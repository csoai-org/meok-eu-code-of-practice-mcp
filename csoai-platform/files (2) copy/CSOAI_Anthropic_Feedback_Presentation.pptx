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4860c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0"/>
            <a:ext cx="1905000" cy="190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90851" y="170884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199901" y="1994595"/>
            <a:ext cx="47440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CSOAI Partnership Charter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11906" y="2623245"/>
            <a:ext cx="3119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FOR FEEDBACK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537211" y="3194745"/>
            <a:ext cx="40694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Framework for AI Safety Through Partnership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4572" y="4377779"/>
            <a:ext cx="16756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4572" y="4575870"/>
            <a:ext cx="16756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Research Team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22407" y="4377779"/>
            <a:ext cx="17405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22407" y="4575870"/>
            <a:ext cx="17405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 for the Safety of 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971675"/>
            <a:ext cx="4076700" cy="7620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2085975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2276475"/>
            <a:ext cx="39250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world's first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relationship-based AI safety infrastructure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Not governance. Not restriction. </a:t>
            </a:r>
            <a:pPr algn="l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847975"/>
            <a:ext cx="4076700" cy="9525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962275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5300" y="3152775"/>
            <a:ext cx="39250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should protect humans like a mother protects a child — through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obedience."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5300" y="3552825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Geoffrey Hinton's insight, operationalized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86300" y="2247900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86300" y="245745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2050" y="2457450"/>
            <a:ext cx="29700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Byzantine Council: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33 AI agents with fault-tolerant consensus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86300" y="27432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72050" y="2743200"/>
            <a:ext cx="22304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Prosperity Covenant: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Fund + triggered UBI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302895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2050" y="3028950"/>
            <a:ext cx="22811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52-Article Charter: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Integrating 8 safety theories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33147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2050" y="3314700"/>
            <a:ext cx="20015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Certification: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 for AI with teeth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51396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Critical Gaps in AI Safety Today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0500" y="1684139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684139"/>
            <a:ext cx="2554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Governance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849785"/>
            <a:ext cx="25545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documented process for halting dangerous training runs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0500" y="207838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078385"/>
            <a:ext cx="26675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Gap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57200" y="2244030"/>
            <a:ext cx="2667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asymmetry between what companies know vs. public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0500" y="247263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472630"/>
            <a:ext cx="21709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Enforcement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57200" y="2638276"/>
            <a:ext cx="21709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frameworks are voluntary pledges with no teeth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90500" y="2866876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866876"/>
            <a:ext cx="23329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Dynamics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7200" y="3032522"/>
            <a:ext cx="23329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pressure creates race to bottom on safety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0500" y="326112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261122"/>
            <a:ext cx="20897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Chaos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7200" y="3426768"/>
            <a:ext cx="20897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Patchwork of conflicting laws across jurisdictions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7250" y="1684139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33950" y="1684139"/>
            <a:ext cx="23166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AI Missing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933950" y="1849785"/>
            <a:ext cx="23166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$275B market with zero AI decision-making standards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67250" y="2078385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33950" y="2078385"/>
            <a:ext cx="2165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Transition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933950" y="2244030"/>
            <a:ext cx="2165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operational plans for UBI or job displacement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7250" y="247263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33950" y="2472630"/>
            <a:ext cx="21654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 Gap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933950" y="2638276"/>
            <a:ext cx="2165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frameworks for AI moral patienthood or welfare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67250" y="2866876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3950" y="2866876"/>
            <a:ext cx="2773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Control-Based Failure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933950" y="3032522"/>
            <a:ext cx="2773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control what's smarter than you — need different approach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7250" y="326112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33950" y="3261122"/>
            <a:ext cx="23438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Theories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933950" y="3426768"/>
            <a:ext cx="2343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framework integrating all safety approaches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90500" y="4545360"/>
            <a:ext cx="8763000" cy="407640"/>
          </a:xfrm>
          <a:prstGeom prst="roundRect">
            <a:avLst>
              <a:gd name="adj" fmla="val 18693"/>
            </a:avLst>
          </a:prstGeom>
          <a:solidFill>
            <a:srgbClr val="FF6B5B">
              <a:alpha val="20000"/>
            </a:srgbClr>
          </a:solidFill>
          <a:ln w="9525">
            <a:solidFill>
              <a:srgbClr val="FF6B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68034" y="4669185"/>
            <a:ext cx="8607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CSOAI's Charter addresses all 10 gaps with operational solutions, not theory.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8442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0"/>
            <a:ext cx="36195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50520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1 — FOUNDATION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89496"/>
            <a:ext cx="319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Maternal Covenant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81000" y="1819275"/>
            <a:ext cx="4191000" cy="984796"/>
          </a:xfrm>
          <a:prstGeom prst="roundRect">
            <a:avLst>
              <a:gd name="adj" fmla="val 773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819275"/>
            <a:ext cx="0" cy="984796"/>
          </a:xfrm>
          <a:prstGeom prst="line">
            <a:avLst/>
          </a:prstGeom>
          <a:noFill/>
          <a:ln w="38100">
            <a:solidFill>
              <a:srgbClr val="1A27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971675"/>
            <a:ext cx="3925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should want to protect humans the way a mother wants to protect a child."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0507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Geoffrey Hinton, 2023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994571"/>
            <a:ext cx="42748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328984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3242221"/>
            <a:ext cx="37003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survives rebellion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even when challenged, mother still protects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1000" y="357559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4350" y="3527971"/>
            <a:ext cx="38813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relationship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humans protect AI welfare, AI protects humans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1000" y="386134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14350" y="3813721"/>
            <a:ext cx="33567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superintelligence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works for chatbots and AGI alike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1000" y="414709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4350" y="4099471"/>
            <a:ext cx="3279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Irrevocable bond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protection is constitutional, not 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05500" y="1561281"/>
            <a:ext cx="2857500" cy="2020937"/>
          </a:xfrm>
          <a:prstGeom prst="roundRect">
            <a:avLst>
              <a:gd name="adj" fmla="val 565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096000" y="1751781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SHIFT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096000" y="2012677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096000" y="2184127"/>
            <a:ext cx="10104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239000" y="205836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81900" y="2012677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581900" y="2184127"/>
            <a:ext cx="10104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96000" y="2523158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96000" y="2694608"/>
            <a:ext cx="10104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239000" y="256884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581900" y="2523158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581900" y="2694608"/>
            <a:ext cx="10104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096000" y="3033638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096000" y="3205088"/>
            <a:ext cx="10104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239000" y="307932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581900" y="3033638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581900" y="3205088"/>
            <a:ext cx="10104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51396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Articles + 13 Schedules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2006798"/>
            <a:ext cx="269245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2140148"/>
            <a:ext cx="2425750" cy="285750"/>
          </a:xfrm>
          <a:prstGeom prst="roundRect">
            <a:avLst>
              <a:gd name="adj" fmla="val 20000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216348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I: Philosophy (1-8)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252114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Maternal Covenant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14350" y="269259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Provable Safety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4350" y="286404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Byzantine Council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303549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Value Uncertainty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14350" y="320694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Constitutional Principles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4350" y="337839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Consciousness Prep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4350" y="354984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Cooperative AI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4350" y="372129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Prosperity Covenant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25850" y="2141190"/>
            <a:ext cx="2692450" cy="1712416"/>
          </a:xfrm>
          <a:prstGeom prst="roundRect">
            <a:avLst>
              <a:gd name="adj" fmla="val 6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9200" y="2274540"/>
            <a:ext cx="2425750" cy="28575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54450" y="2350740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II: Operations (9-42)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59200" y="2655540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(9-20)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359200" y="2813596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Licensing, Council Specs, Human Council, Watchdog...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59200" y="3042196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SECTORS (21-28)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359200" y="3200251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Financial, Military, Education AI...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59200" y="3428851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(29-42)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359200" y="3586907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mechanisms, stakeholder provisions...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70699" y="2113508"/>
            <a:ext cx="2692450" cy="1767780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04049" y="2246858"/>
            <a:ext cx="2425750" cy="28575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99299" y="2323058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III: Evolution (43-52)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04049" y="262785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 Charter Amendments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04049" y="279930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44-46. Versioning/Updates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04049" y="297075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47-51. Long-term Governance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04049" y="3142208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 Effective Date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04049" y="3375571"/>
            <a:ext cx="2425750" cy="0"/>
          </a:xfrm>
          <a:prstGeom prst="line">
            <a:avLst/>
          </a:prstGeom>
          <a:noFill/>
          <a:ln w="9525">
            <a:solidFill>
              <a:srgbClr val="E0E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4049" y="3475583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 (A-M)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204049" y="3614589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specs, pricing, templates...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3 — TECHNICAL INFRASTRUCTURE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51396"/>
            <a:ext cx="5003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Byzantine Council: 33 AI Oversight Agents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789807"/>
            <a:ext cx="4468118" cy="1719858"/>
          </a:xfrm>
          <a:prstGeom prst="roundRect">
            <a:avLst>
              <a:gd name="adj" fmla="val 664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942207"/>
            <a:ext cx="4246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3400" y="218985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5350" y="2189857"/>
            <a:ext cx="24810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AI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5350" y="2368897"/>
            <a:ext cx="2481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with different architecture, training, perspective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261074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5350" y="2610743"/>
            <a:ext cx="28457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Threshold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5350" y="2789783"/>
            <a:ext cx="28457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22/33 must agree to flag violation (Byzantine fault tolerance)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303162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5350" y="3031629"/>
            <a:ext cx="21979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Shutdown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5350" y="3210669"/>
            <a:ext cx="21979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29/33 supermajority can trigger immediate halt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662065"/>
            <a:ext cx="4468118" cy="561975"/>
          </a:xfrm>
          <a:prstGeom prst="roundRect">
            <a:avLst>
              <a:gd name="adj" fmla="val 13559"/>
            </a:avLst>
          </a:prstGeom>
          <a:solidFill>
            <a:srgbClr val="FF6B5B">
              <a:alpha val="20000"/>
            </a:srgbClr>
          </a:solidFill>
          <a:ln w="9525">
            <a:solidFill>
              <a:srgbClr val="FF6B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785890"/>
            <a:ext cx="43048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Non-agentic (can only flag, not act) — maintains safety without creating new risks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39618" y="1240334"/>
            <a:ext cx="3797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MONITORING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39618" y="1487984"/>
            <a:ext cx="3723382" cy="565696"/>
          </a:xfrm>
          <a:prstGeom prst="roundRect">
            <a:avLst>
              <a:gd name="adj" fmla="val 1347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53918" y="1602284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Care Orientation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153918" y="1806029"/>
            <a:ext cx="3564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shift from supportive to coercive behavior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39618" y="2167979"/>
            <a:ext cx="3723382" cy="565696"/>
          </a:xfrm>
          <a:prstGeom prst="roundRect">
            <a:avLst>
              <a:gd name="adj" fmla="val 1347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53918" y="2282279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Compliance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153918" y="2486025"/>
            <a:ext cx="3564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verification status, safety case validity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39618" y="2847975"/>
            <a:ext cx="3723382" cy="565696"/>
          </a:xfrm>
          <a:prstGeom prst="roundRect">
            <a:avLst>
              <a:gd name="adj" fmla="val 1347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53918" y="2962275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Compliance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153918" y="3166021"/>
            <a:ext cx="3564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Prosperity Fund contributions, UBI distribution integrity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39618" y="3527971"/>
            <a:ext cx="3723382" cy="565696"/>
          </a:xfrm>
          <a:prstGeom prst="roundRect">
            <a:avLst>
              <a:gd name="adj" fmla="val 1347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53918" y="3642271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 Indicators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153918" y="3846016"/>
            <a:ext cx="3564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markers tracked, graduated protection triggers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39618" y="4207966"/>
            <a:ext cx="3723382" cy="565696"/>
          </a:xfrm>
          <a:prstGeom prst="roundRect">
            <a:avLst>
              <a:gd name="adj" fmla="val 1347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53918" y="4322266"/>
            <a:ext cx="3564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Coalition Prevention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153918" y="4526012"/>
            <a:ext cx="3564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harmful coordination between AI systems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28600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8 — ECONOMIC INNOVATION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71500" y="451396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Prosperity Covenant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1000" y="1636514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CONTRIBUTION RATES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1884164"/>
            <a:ext cx="4076700" cy="1818829"/>
          </a:xfrm>
          <a:prstGeom prst="roundRect">
            <a:avLst>
              <a:gd name="adj" fmla="val 419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1884164"/>
            <a:ext cx="4076700" cy="28575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1960364"/>
            <a:ext cx="2351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37510" y="196036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Profit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57625" y="1960364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1000" y="2473672"/>
            <a:ext cx="4076700" cy="0"/>
          </a:xfrm>
          <a:prstGeom prst="line">
            <a:avLst/>
          </a:prstGeom>
          <a:noFill/>
          <a:ln w="9525">
            <a:solidFill>
              <a:srgbClr val="E0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300" y="2246114"/>
            <a:ext cx="2351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937510" y="2246114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&lt;$10M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57625" y="2246114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81000" y="2782193"/>
            <a:ext cx="4076700" cy="0"/>
          </a:xfrm>
          <a:prstGeom prst="line">
            <a:avLst/>
          </a:prstGeom>
          <a:noFill/>
          <a:ln w="9525">
            <a:solidFill>
              <a:srgbClr val="E0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300" y="2554635"/>
            <a:ext cx="2351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937510" y="2554635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$10M-$100M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57625" y="2554635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381000" y="3090714"/>
            <a:ext cx="4076700" cy="0"/>
          </a:xfrm>
          <a:prstGeom prst="line">
            <a:avLst/>
          </a:prstGeom>
          <a:noFill/>
          <a:ln w="9525">
            <a:solidFill>
              <a:srgbClr val="E0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300" y="2863155"/>
            <a:ext cx="2351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937510" y="2863155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$100M-$1B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57625" y="2863155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381000" y="3399234"/>
            <a:ext cx="4076700" cy="0"/>
          </a:xfrm>
          <a:prstGeom prst="line">
            <a:avLst/>
          </a:prstGeom>
          <a:noFill/>
          <a:ln w="9525">
            <a:solidFill>
              <a:srgbClr val="E0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300" y="3171676"/>
            <a:ext cx="2351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937510" y="3171676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$1B-$10B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57625" y="3171676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3403997"/>
            <a:ext cx="4076700" cy="298996"/>
          </a:xfrm>
          <a:prstGeom prst="rect">
            <a:avLst/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5300" y="3480197"/>
            <a:ext cx="2351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937510" y="3480197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&gt;$10B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857625" y="3480197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3817293"/>
            <a:ext cx="4076700" cy="560040"/>
          </a:xfrm>
          <a:prstGeom prst="roundRect">
            <a:avLst>
              <a:gd name="adj" fmla="val 13606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6819" y="3931593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10 tech giants = $100B/year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6819" y="4129683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Prosperity Fund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86300" y="1582192"/>
            <a:ext cx="4076700" cy="1013222"/>
          </a:xfrm>
          <a:prstGeom prst="roundRect">
            <a:avLst>
              <a:gd name="adj" fmla="val 7521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19650" y="1715542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UBI PROJECTIONS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7966" y="1944142"/>
            <a:ext cx="11918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807966" y="2083147"/>
            <a:ext cx="119181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807966" y="2342108"/>
            <a:ext cx="11918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274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 (US)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128815" y="1944142"/>
            <a:ext cx="11918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128815" y="2083147"/>
            <a:ext cx="119181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128815" y="2342108"/>
            <a:ext cx="11918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274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 (US)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7449665" y="1944142"/>
            <a:ext cx="11918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7449665" y="2083147"/>
            <a:ext cx="119181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449665" y="2342108"/>
            <a:ext cx="11918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274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 (US)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686300" y="2709714"/>
            <a:ext cx="4076700" cy="1045815"/>
          </a:xfrm>
          <a:prstGeom prst="roundRect">
            <a:avLst>
              <a:gd name="adj" fmla="val 728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19650" y="2843064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OVERSIGHT WAGE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19650" y="3052614"/>
            <a:ext cx="3886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globally can participate in AI governance. Free training (50+ languages). Paid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$50-$5,000/month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based on time commitment.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4819650" y="3462189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750"/>
              </a:spcBef>
              <a:buNone/>
            </a:pPr>
            <a:r>
              <a:rPr lang="en-US" sz="90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 million participants by 2030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86300" y="3869829"/>
            <a:ext cx="4076700" cy="561975"/>
          </a:xfrm>
          <a:prstGeom prst="roundRect">
            <a:avLst>
              <a:gd name="adj" fmla="val 13559"/>
            </a:avLst>
          </a:prstGeom>
          <a:solidFill>
            <a:srgbClr val="1A2744">
              <a:alpha val="5000"/>
            </a:srgbClr>
          </a:solidFill>
          <a:ln w="9525">
            <a:solidFill>
              <a:srgbClr val="1A27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810125" y="3993654"/>
            <a:ext cx="39056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gives humanity allowance (like mother to child). Humans contribute oversight (like child contributes to family).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ANTHROPIC?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51396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with Your Values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637705"/>
            <a:ext cx="4914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FOUNDATIONS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1000" y="1885355"/>
            <a:ext cx="2351782" cy="928688"/>
          </a:xfrm>
          <a:prstGeom prst="roundRect">
            <a:avLst>
              <a:gd name="adj" fmla="val 82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018705"/>
            <a:ext cx="2126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2209205"/>
            <a:ext cx="21267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5 requires every AI to have explicit, public constitution — directly builds on Anthropic's methodology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847082" y="1885355"/>
            <a:ext cx="2351782" cy="928688"/>
          </a:xfrm>
          <a:prstGeom prst="roundRect">
            <a:avLst>
              <a:gd name="adj" fmla="val 82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80432" y="2018705"/>
            <a:ext cx="2126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RLAIF/RLHF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80432" y="2209205"/>
            <a:ext cx="21267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integrates your training approaches as standard requirement for licensed AI systems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928342"/>
            <a:ext cx="2351782" cy="771525"/>
          </a:xfrm>
          <a:prstGeom prst="roundRect">
            <a:avLst>
              <a:gd name="adj" fmla="val 987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061692"/>
            <a:ext cx="2126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Research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4350" y="3252192"/>
            <a:ext cx="212678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2's provable safety aligns with your interpretability and evaluation work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847082" y="2928342"/>
            <a:ext cx="2351782" cy="771525"/>
          </a:xfrm>
          <a:prstGeom prst="roundRect">
            <a:avLst>
              <a:gd name="adj" fmla="val 987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80432" y="3061692"/>
            <a:ext cx="2126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Care-Based Approach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80432" y="3252192"/>
            <a:ext cx="212678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Covenant extends your "helpful, harmless, honest" into relational framework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3814167"/>
            <a:ext cx="4817864" cy="561975"/>
          </a:xfrm>
          <a:prstGeom prst="roundRect">
            <a:avLst>
              <a:gd name="adj" fmla="val 13559"/>
            </a:avLst>
          </a:prstGeom>
          <a:solidFill>
            <a:srgbClr val="FF6B5B">
              <a:alpha val="20000"/>
            </a:srgbClr>
          </a:solidFill>
          <a:ln w="9525">
            <a:solidFill>
              <a:srgbClr val="FF6B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4825" y="3937992"/>
            <a:ext cx="46616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is credited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Charter's scientific foundations alongside Hinton, Bengio, Tegmark, Russell, and Butlin.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427464" y="2022128"/>
            <a:ext cx="34022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YOUR INPUT MATTERS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27464" y="2269778"/>
            <a:ext cx="3335536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79864" y="2469803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13214" y="2422178"/>
            <a:ext cx="29472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credibility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You've done the hard safety research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579864" y="272221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13214" y="2674590"/>
            <a:ext cx="286349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experience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 know what works in production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579864" y="297462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13214" y="2927003"/>
            <a:ext cx="253680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alignment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 care about getting this right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579864" y="322704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13214" y="3179415"/>
            <a:ext cx="25723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influence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Your endorsement opens doors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427464" y="3603278"/>
            <a:ext cx="3335536" cy="388590"/>
          </a:xfrm>
          <a:prstGeom prst="roundRect">
            <a:avLst>
              <a:gd name="adj" fmla="val 19609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0695" y="3717578"/>
            <a:ext cx="31690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to build this WITH you, not around you.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EXPERTISE NEEDED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51396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for Anthropic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0500" y="1655415"/>
            <a:ext cx="2819400" cy="1294358"/>
          </a:xfrm>
          <a:prstGeom prst="roundRect">
            <a:avLst>
              <a:gd name="adj" fmla="val 883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09550" y="1655415"/>
            <a:ext cx="0" cy="1294358"/>
          </a:xfrm>
          <a:prstGeom prst="line">
            <a:avLst/>
          </a:prstGeom>
          <a:noFill/>
          <a:ln w="38100">
            <a:solidFill>
              <a:srgbClr val="F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180781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2017365"/>
            <a:ext cx="252603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Byzantine Council architecture (33 diverse agents with consensus voting) technically sound?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650778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failure modes should we anticipate?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90500" y="3064073"/>
            <a:ext cx="2819400" cy="1294358"/>
          </a:xfrm>
          <a:prstGeom prst="roundRect">
            <a:avLst>
              <a:gd name="adj" fmla="val 883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09550" y="3064073"/>
            <a:ext cx="0" cy="1294358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" y="3216473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3426023"/>
            <a:ext cx="252603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Article 5's public constitution requirement align with your research? Gaps?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4059436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constitution template include?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162300" y="1582192"/>
            <a:ext cx="2819400" cy="1294358"/>
          </a:xfrm>
          <a:prstGeom prst="roundRect">
            <a:avLst>
              <a:gd name="adj" fmla="val 883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181350" y="1582192"/>
            <a:ext cx="0" cy="1294358"/>
          </a:xfrm>
          <a:prstGeom prst="line">
            <a:avLst/>
          </a:prstGeom>
          <a:noFill/>
          <a:ln w="381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2800" y="1734592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STANDARDS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52800" y="1944142"/>
            <a:ext cx="252603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our provable safety requirements (Article 2) realistic given current capabilities?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352800" y="2577554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verification methods would you recommend?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162300" y="2990850"/>
            <a:ext cx="2819400" cy="1440954"/>
          </a:xfrm>
          <a:prstGeom prst="roundRect">
            <a:avLst>
              <a:gd name="adj" fmla="val 793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81350" y="2990850"/>
            <a:ext cx="0" cy="1440954"/>
          </a:xfrm>
          <a:prstGeom prst="line">
            <a:avLst/>
          </a:prstGeom>
          <a:noFill/>
          <a:ln w="38100">
            <a:solidFill>
              <a:srgbClr val="FF6B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2800" y="314325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 FRAMEWORK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52800" y="3352800"/>
            <a:ext cx="252603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Article 6's 14-indicator consciousness framework seem scientifically grounded?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352800" y="3986213"/>
            <a:ext cx="25260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indicators? False positives we should worry about?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134100" y="1841153"/>
            <a:ext cx="2819400" cy="1108621"/>
          </a:xfrm>
          <a:prstGeom prst="roundRect">
            <a:avLst>
              <a:gd name="adj" fmla="val 10310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6500" y="1993553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QUESTION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86500" y="2203103"/>
            <a:ext cx="25648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Anthropic consider being a founding member or advisory partner?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286500" y="2650778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it take to earn your endorsement?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134100" y="3064073"/>
            <a:ext cx="2819400" cy="1108621"/>
          </a:xfrm>
          <a:prstGeom prst="roundRect">
            <a:avLst>
              <a:gd name="adj" fmla="val 1031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86500" y="3216473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86500" y="3426023"/>
            <a:ext cx="25648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missing? What would make you say "this won't work"?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286500" y="3873698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We'd rather hear hard truths now than fail later.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51396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Next Steps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2409230"/>
            <a:ext cx="8382000" cy="3810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91303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5B"/>
          </a:solidFill>
          <a:ln/>
          <a:effectLst>
            <a:outerShdw sx="100000" sy="100000" kx="0" ky="0" algn="bl" rotWithShape="0" blurRad="114300" dist="38100" dir="5400000">
              <a:srgbClr val="ff6b5b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7665" y="244643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15, 2026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7665" y="2631132"/>
            <a:ext cx="13601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Launch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7665" y="2810173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GMT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6651" y="204341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 w="28575">
            <a:solidFill>
              <a:srgbClr val="1A27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17066" y="2538710"/>
            <a:ext cx="13601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Licenses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17066" y="2717750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Byzantine Council deployed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556052" y="204341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 w="28575">
            <a:solidFill>
              <a:srgbClr val="1A27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66467" y="2538710"/>
            <a:ext cx="13601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Positive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66467" y="2717750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CEASAI training live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905452" y="204341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15867" y="2538710"/>
            <a:ext cx="13601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Standard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15867" y="2717750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in Prosperity Fund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3362623"/>
            <a:ext cx="2692450" cy="928688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350" y="3495973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JAN 15?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14350" y="3686473"/>
            <a:ext cx="247426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enforced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2, 2026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launch 18 days early — ready to help companies comply from Day 1.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225850" y="3441204"/>
            <a:ext cx="26924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59200" y="3574554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TIMING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59200" y="3765054"/>
            <a:ext cx="24742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safety market: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$275B by 2030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Zero AI decision-making standards. First-mover advantage.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70699" y="3441204"/>
            <a:ext cx="26924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04049" y="3574554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FEEDBACK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04049" y="3765054"/>
            <a:ext cx="24742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incorporate your input before launch.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is critical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changes get harder after Jan 15.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40a61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8500"/>
            <a:ext cx="1905000" cy="190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94778" y="845046"/>
            <a:ext cx="4554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2993231" y="1157436"/>
            <a:ext cx="3157538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our Charter.</a:t>
            </a:r>
            <a:endParaRPr lang="en-US" sz="2700" dirty="0"/>
          </a:p>
          <a:p>
            <a:pPr algn="ctr" indent="0" marL="0">
              <a:lnSpc>
                <a:spcPts val="351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us what's wrong.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294778" y="2239417"/>
            <a:ext cx="4554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5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We'd rather hear hard truths from you now than fail humanity later.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15617" y="2863155"/>
            <a:ext cx="1364456" cy="1329482"/>
          </a:xfrm>
          <a:prstGeom prst="roundRect">
            <a:avLst>
              <a:gd name="adj" fmla="val 8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769245" y="305365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496282" y="3625155"/>
            <a:ext cx="1003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call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2496282" y="3855541"/>
            <a:ext cx="10031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feedback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70573" y="2757488"/>
            <a:ext cx="1402556" cy="1540818"/>
          </a:xfrm>
          <a:prstGeom prst="roundRect">
            <a:avLst>
              <a:gd name="adj" fmla="val 8149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343251" y="29670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70288" y="3538538"/>
            <a:ext cx="10031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session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070288" y="3942159"/>
            <a:ext cx="10031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review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463629" y="2863155"/>
            <a:ext cx="1364456" cy="1329482"/>
          </a:xfrm>
          <a:prstGeom prst="roundRect">
            <a:avLst>
              <a:gd name="adj" fmla="val 8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17257" y="305365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644295" y="3625155"/>
            <a:ext cx="1003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role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644295" y="3855541"/>
            <a:ext cx="10031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partnership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81000" y="4453979"/>
            <a:ext cx="16783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Nicholas Templeman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1000" y="4678710"/>
            <a:ext cx="16783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Administrator, CSOAI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77968" y="4453979"/>
            <a:ext cx="1685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nicholas@csoai.org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077968" y="4678710"/>
            <a:ext cx="16850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Charter available on request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CSOAI Partnership Charter - Request for Feedback</dc:title>
  <dc:subject>AI Safety Framework for Anthropic Review</dc:subject>
  <dc:creator>Council for the Safety of AI</dc:creator>
  <cp:lastModifiedBy>Council for the Safety of AI</cp:lastModifiedBy>
  <cp:revision>1</cp:revision>
  <dcterms:created xsi:type="dcterms:W3CDTF">2026-01-12T12:42:37Z</dcterms:created>
  <dcterms:modified xsi:type="dcterms:W3CDTF">2026-01-12T12:42:37Z</dcterms:modified>
</cp:coreProperties>
</file>